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 type="screen4x3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 showGuides="1">
      <p:cViewPr varScale="1">
        <p:scale>
          <a:sx n="136" d="100"/>
          <a:sy n="136" d="100"/>
        </p:scale>
        <p:origin x="216" y="31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AU" sz="1200" b="0" i="0" u="none" strike="noStrike" kern="1200">
                <a:solidFill>
                  <a:srgbClr val="1C2B22"/>
                </a:solidFill>
                <a:latin typeface="Arial" charset="0"/>
                <a:ea typeface="+mn-ea"/>
                <a:cs typeface="+mn-cs"/>
              </a:defRPr>
            </a:pPr>
            <a:r>
              <a:rPr sz="1200" b="0" i="0" u="none" strike="noStrike">
                <a:solidFill>
                  <a:srgbClr val="1C2B22"/>
                </a:solidFill>
                <a:latin typeface="Arial" charset="0"/>
              </a:rPr>
              <a:t>Monthly Revenue ($K)</a:t>
            </a:r>
            <a:endParaRPr sz="1200" b="0" i="0" u="none" strike="noStrike">
              <a:solidFill>
                <a:srgbClr val="1C2B22"/>
              </a:solidFill>
              <a:latin typeface="Arial" charset="0"/>
            </a:endParaRPr>
          </a:p>
        </c:rich>
      </c:tx>
      <c:layout/>
      <c:overlay val="0"/>
    </c:title>
    <c:autoTitleDeleted val="0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 ($K)</c:v>
                </c:pt>
              </c:strCache>
            </c:strRef>
          </c:tx>
          <c:spPr>
            <a:ln w="38100" cap="flat" cmpd="sng" algn="ctr">
              <a:solidFill>
                <a:srgbClr val="2E7D5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52"/>
              </a:solidFill>
              <a:ln w="9525" cap="flat" cmpd="sng" algn="ctr">
                <a:solidFill>
                  <a:srgbClr val="2E7D52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AU" sz="1200" b="0" i="0" u="none" strike="noStrike" kern="1200">
                    <a:solidFill>
                      <a:srgbClr val="000000"/>
                    </a:solidFill>
                    <a:latin typeface="Arial" charset="0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127.8</c:v>
                </c:pt>
                <c:pt idx="1">
                  <c:v>59.8</c:v>
                </c:pt>
                <c:pt idx="2">
                  <c:v>143.5</c:v>
                </c:pt>
                <c:pt idx="3">
                  <c:v>181.2</c:v>
                </c:pt>
                <c:pt idx="4">
                  <c:v>164.3</c:v>
                </c:pt>
                <c:pt idx="5">
                  <c:v>197.6</c:v>
                </c:pt>
                <c:pt idx="6">
                  <c:v>212</c:v>
                </c:pt>
                <c:pt idx="7">
                  <c:v>188.4</c:v>
                </c:pt>
                <c:pt idx="8">
                  <c:v>231.5</c:v>
                </c:pt>
                <c:pt idx="9">
                  <c:v>298.7</c:v>
                </c:pt>
                <c:pt idx="10">
                  <c:v>352.5</c:v>
                </c:pt>
                <c:pt idx="11">
                  <c:v>323.5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AU" sz="1200" b="0" i="0" u="none" strike="noStrike" kern="1200">
                <a:solidFill>
                  <a:srgbClr val="7A9485"/>
                </a:solidFill>
                <a:latin typeface="Arial" charset="0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D4E5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AU" sz="1200" b="0" i="0" u="none" strike="noStrike" kern="1200">
                <a:solidFill>
                  <a:srgbClr val="7A9485"/>
                </a:solidFill>
                <a:latin typeface="Arial" charset="0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</c:chart>
  <c:spPr>
    <a:solidFill>
      <a:srgbClr val="F7FAF8"/>
    </a:solidFill>
    <a:ln>
      <a:noFill/>
    </a:ln>
    <a:effectLst/>
  </c:spPr>
  <c:txPr>
    <a:bodyPr/>
    <a:lstStyle/>
    <a:p>
      <a:pPr>
        <a:defRPr lang="en-AU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AU" sz="1200" b="0" i="0" u="none" strike="noStrike" kern="1200">
                <a:solidFill>
                  <a:srgbClr val="1C2B22"/>
                </a:solidFill>
                <a:latin typeface="Arial" charset="0"/>
                <a:ea typeface="+mn-ea"/>
                <a:cs typeface="+mn-cs"/>
              </a:defRPr>
            </a:pPr>
            <a:r>
              <a:rPr sz="1200" b="0" i="0" u="none" strike="noStrike">
                <a:solidFill>
                  <a:srgbClr val="1C2B22"/>
                </a:solidFill>
                <a:latin typeface="Arial" charset="0"/>
              </a:rPr>
              <a:t>Profit by Customer Segment ($K)</a:t>
            </a:r>
            <a:endParaRPr sz="1200" b="0" i="0" u="none" strike="noStrike">
              <a:solidFill>
                <a:srgbClr val="1C2B22"/>
              </a:solidFill>
              <a:latin typeface="Arial" charset="0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($K)</c:v>
                </c:pt>
              </c:strCache>
            </c:strRef>
          </c:tx>
          <c:spPr>
            <a:solidFill>
              <a:srgbClr val="1A5C38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A5C3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D5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6C596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AU" sz="1100" b="0" i="0" u="none" strike="noStrike" kern="1200">
                    <a:solidFill>
                      <a:srgbClr val="1C2B22"/>
                    </a:solidFill>
                    <a:latin typeface="Arial" charset="0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Consumer</c:v>
                </c:pt>
                <c:pt idx="1">
                  <c:v>Corporate</c:v>
                </c:pt>
                <c:pt idx="2">
                  <c:v>Home Office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134.1</c:v>
                </c:pt>
                <c:pt idx="1">
                  <c:v>91.98</c:v>
                </c:pt>
                <c:pt idx="2">
                  <c:v>60.3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AU" sz="1200" b="0" i="0" u="none" strike="noStrike" kern="1200">
                <a:solidFill>
                  <a:srgbClr val="7A9485"/>
                </a:solidFill>
                <a:latin typeface="Arial" charset="0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D4E5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AU" sz="1200" b="0" i="0" u="none" strike="noStrike" kern="1200">
                <a:solidFill>
                  <a:srgbClr val="7A9485"/>
                </a:solidFill>
                <a:latin typeface="Arial" charset="0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</c:chart>
  <c:spPr>
    <a:solidFill>
      <a:srgbClr val="F7FAF8"/>
    </a:solidFill>
    <a:ln>
      <a:noFill/>
    </a:ln>
    <a:effectLst/>
  </c:spPr>
  <c:txPr>
    <a:bodyPr/>
    <a:lstStyle/>
    <a:p>
      <a:pPr>
        <a:defRPr lang="en-AU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Discount Applied ($)</c:v>
                </c:pt>
              </c:strCache>
            </c:strRef>
          </c:tx>
          <c:spPr>
            <a:solidFill>
              <a:srgbClr val="E05252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0525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6C5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6C59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6C59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6C596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AU" sz="1000" b="0" i="0" u="none" strike="noStrike" kern="1200">
                    <a:solidFill>
                      <a:srgbClr val="1C2B22"/>
                    </a:solidFill>
                    <a:latin typeface="Arial" charset="0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Binders</c:v>
                </c:pt>
                <c:pt idx="1">
                  <c:v>Chairs</c:v>
                </c:pt>
                <c:pt idx="2">
                  <c:v>Furnishings</c:v>
                </c:pt>
                <c:pt idx="3">
                  <c:v>Papers</c:v>
                </c:pt>
                <c:pt idx="4">
                  <c:v>Phones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567</c:v>
                </c:pt>
                <c:pt idx="1">
                  <c:v>137</c:v>
                </c:pt>
                <c:pt idx="2">
                  <c:v>130</c:v>
                </c:pt>
                <c:pt idx="3">
                  <c:v>112</c:v>
                </c:pt>
                <c:pt idx="4">
                  <c:v>100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AU" sz="1200" b="0" i="0" u="none" strike="noStrike" kern="1200">
                <a:solidFill>
                  <a:srgbClr val="7A9485"/>
                </a:solidFill>
                <a:latin typeface="Arial" charset="0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D4E5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AU" sz="1200" b="0" i="0" u="none" strike="noStrike" kern="1200">
                <a:solidFill>
                  <a:srgbClr val="7A9485"/>
                </a:solidFill>
                <a:latin typeface="Arial" charset="0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</c:chart>
  <c:spPr>
    <a:solidFill>
      <a:srgbClr val="F7FAF8"/>
    </a:solidFill>
    <a:ln>
      <a:noFill/>
    </a:ln>
    <a:effectLst/>
  </c:spPr>
  <c:txPr>
    <a:bodyPr/>
    <a:lstStyle/>
    <a:p>
      <a:pPr>
        <a:defRPr lang="en-AU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AU" sz="1100" b="0" i="0" u="none" strike="noStrike" kern="1200">
                <a:solidFill>
                  <a:srgbClr val="1C2B22"/>
                </a:solidFill>
                <a:latin typeface="Arial" charset="0"/>
                <a:ea typeface="+mn-ea"/>
                <a:cs typeface="+mn-cs"/>
              </a:defRPr>
            </a:pPr>
            <a:r>
              <a:rPr sz="1100" b="0" i="0" u="none" strike="noStrike">
                <a:solidFill>
                  <a:srgbClr val="1C2B22"/>
                </a:solidFill>
                <a:latin typeface="Arial" charset="0"/>
              </a:rPr>
              <a:t>Revenue by Category ($2.30M Total)</a:t>
            </a:r>
            <a:endParaRPr sz="1100" b="0" i="0" u="none" strike="noStrike">
              <a:solidFill>
                <a:srgbClr val="1C2B22"/>
              </a:solidFill>
              <a:latin typeface="Arial" charset="0"/>
            </a:endParaRP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1A5C38"/>
              </a:solidFill>
              <a:effectLst/>
            </c:spPr>
          </c:dPt>
          <c:dPt>
            <c:idx val="1"/>
            <c:bubble3D val="0"/>
            <c:spPr>
              <a:solidFill>
                <a:srgbClr val="4CAF7D"/>
              </a:solidFill>
              <a:effectLst/>
            </c:spPr>
          </c:dPt>
          <c:dPt>
            <c:idx val="2"/>
            <c:bubble3D val="0"/>
            <c:spPr>
              <a:solidFill>
                <a:srgbClr val="56C596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AU" sz="1100" b="0" i="0" u="none" strike="noStrike" kern="1200">
                      <a:solidFill>
                        <a:srgbClr val="FFFFFF"/>
                      </a:solidFill>
                      <a:latin typeface="Arial" charset="0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AU" sz="1100" b="0" i="0" u="none" strike="noStrike" kern="1200">
                      <a:solidFill>
                        <a:srgbClr val="FFFFFF"/>
                      </a:solidFill>
                      <a:latin typeface="Arial" charset="0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AU" sz="1100" b="0" i="0" u="none" strike="noStrike" kern="1200">
                      <a:solidFill>
                        <a:srgbClr val="FFFFFF"/>
                      </a:solidFill>
                      <a:latin typeface="Arial" charset="0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AU" sz="1800" b="0" i="0" u="none" strike="noStrike" kern="1200">
                    <a:solidFill>
                      <a:srgbClr val="000000"/>
                    </a:solidFill>
                    <a:latin typeface="Arial" charset="0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Technology
$836.2K</c:v>
                </c:pt>
                <c:pt idx="1">
                  <c:v>Furniture
$693.5K</c:v>
                </c:pt>
                <c:pt idx="2">
                  <c:v>Office Supplies
$770.3K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836.2</c:v>
                </c:pt>
                <c:pt idx="1">
                  <c:v>693.5</c:v>
                </c:pt>
                <c:pt idx="2">
                  <c:v>770.3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AU" sz="900" kern="1200">
              <a:solidFill>
                <a:srgbClr val="4A5E52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</c:chart>
  <c:spPr>
    <a:solidFill>
      <a:srgbClr val="F7FAF8"/>
    </a:solidFill>
    <a:ln w="6350">
      <a:solidFill>
        <a:srgbClr val="00B0F0"/>
      </a:solidFill>
    </a:ln>
    <a:effectLst/>
  </c:spPr>
  <c:txPr>
    <a:bodyPr/>
    <a:lstStyle/>
    <a:p>
      <a:pPr>
        <a:defRPr lang="en-AU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/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/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/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/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/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/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/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/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/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/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/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/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/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/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/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chart" Target="../charts/chart3.xml"/><Relationship Id="rId1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5C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6C596"/>
          </a:solidFill>
          <a:ln w="12700">
            <a:solidFill>
              <a:srgbClr val="56C5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1097280"/>
            <a:ext cx="4114800" cy="4114800"/>
          </a:xfrm>
          <a:prstGeom prst="ellipse">
            <a:avLst/>
          </a:prstGeom>
          <a:solidFill>
            <a:srgbClr val="2E7D52">
              <a:alpha val="30000"/>
            </a:srgbClr>
          </a:solidFill>
          <a:ln w="12700">
            <a:solidFill>
              <a:srgbClr val="2E7D52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74320"/>
            <a:ext cx="2743200" cy="2743200"/>
          </a:xfrm>
          <a:prstGeom prst="ellipse">
            <a:avLst/>
          </a:prstGeom>
          <a:solidFill>
            <a:srgbClr val="4CAF7D">
              <a:alpha val="20000"/>
            </a:srgbClr>
          </a:solidFill>
          <a:ln w="12700">
            <a:solidFill>
              <a:srgbClr val="4CAF7D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14400"/>
            <a:ext cx="6858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kern="0" spc="500" dirty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TUNIA TECHNOLOGIES</a:t>
            </a:r>
            <a:endParaRPr lang="en-US" sz="2000" b="1" kern="0" spc="500" dirty="0">
              <a:solidFill>
                <a:schemeClr val="bg1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11480" y="1463040"/>
            <a:ext cx="685800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0"/>
                <a:cs typeface="Georgia" pitchFamily="34" charset="0"/>
              </a:rPr>
              <a:t>Sales &amp; Profitability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0"/>
                <a:cs typeface="Georgia" pitchFamily="34" charset="0"/>
              </a:rPr>
              <a:t>Analysis Report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11480" y="3337560"/>
            <a:ext cx="6858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Identifying Growth Drivers, Margin Constraints &amp; Strategic Priorities</a:t>
            </a:r>
            <a:endParaRPr lang="en-US" sz="1600" i="1" dirty="0">
              <a:solidFill>
                <a:schemeClr val="bg1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1502410" y="4206240"/>
            <a:ext cx="6858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AU" altLang="en-US" b="1" i="1" dirty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BY ADEBISI FAROUK, DATA ANALYST &amp; BUSINESS ANALYST</a:t>
            </a:r>
            <a:endParaRPr lang="en-AU" altLang="en-US" b="1" i="1" dirty="0">
              <a:solidFill>
                <a:schemeClr val="bg1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0"/>
                <a:cs typeface="Georgia" pitchFamily="34" charset="0"/>
              </a:rPr>
              <a:t>EXECUTIVE SUMMARY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1051560"/>
            <a:ext cx="2057400" cy="1143000"/>
          </a:xfrm>
          <a:prstGeom prst="rect">
            <a:avLst/>
          </a:prstGeom>
          <a:solidFill>
            <a:srgbClr val="E8F5EE"/>
          </a:solidFill>
          <a:ln w="12700">
            <a:solidFill>
              <a:srgbClr val="D4E5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051560"/>
            <a:ext cx="54864" cy="114300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15568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5C38"/>
                </a:solidFill>
                <a:latin typeface="Georgia" pitchFamily="34" charset="0"/>
                <a:ea typeface="Georgia" pitchFamily="34" charset="0"/>
                <a:cs typeface="Georgia" pitchFamily="34" charset="0"/>
              </a:rPr>
              <a:t>$2.30M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627632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5E5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Total Revenue</a:t>
            </a:r>
            <a:endParaRPr lang="en-US" sz="1000" b="1" dirty="0">
              <a:solidFill>
                <a:srgbClr val="4A5E52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395728" y="1051560"/>
            <a:ext cx="2057400" cy="1143000"/>
          </a:xfrm>
          <a:prstGeom prst="rect">
            <a:avLst/>
          </a:prstGeom>
          <a:solidFill>
            <a:srgbClr val="E8F5EE"/>
          </a:solidFill>
          <a:ln w="12700">
            <a:solidFill>
              <a:srgbClr val="D4E5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395728" y="1051560"/>
            <a:ext cx="54864" cy="1143000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32888" y="1115568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E7D52"/>
                </a:solidFill>
                <a:latin typeface="Georgia" pitchFamily="34" charset="0"/>
                <a:ea typeface="Georgia" pitchFamily="34" charset="0"/>
                <a:cs typeface="Georgia" pitchFamily="34" charset="0"/>
              </a:rPr>
              <a:t>$286.4K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532888" y="1627632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5E5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Total Profit</a:t>
            </a:r>
            <a:endParaRPr lang="en-US" sz="1000" b="1" dirty="0">
              <a:solidFill>
                <a:srgbClr val="4A5E52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608576" y="1051560"/>
            <a:ext cx="2057400" cy="1143000"/>
          </a:xfrm>
          <a:prstGeom prst="rect">
            <a:avLst/>
          </a:prstGeom>
          <a:solidFill>
            <a:srgbClr val="E8F5EE"/>
          </a:solidFill>
          <a:ln w="12700">
            <a:solidFill>
              <a:srgbClr val="D4E5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08576" y="1051560"/>
            <a:ext cx="54864" cy="1143000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45736" y="1115568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4CAF7D"/>
                </a:solidFill>
                <a:latin typeface="Georgia" pitchFamily="34" charset="0"/>
                <a:ea typeface="Georgia" pitchFamily="34" charset="0"/>
                <a:cs typeface="Georgia" pitchFamily="34" charset="0"/>
              </a:rPr>
              <a:t>12.5%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45736" y="1627632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5E5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Profit Margin</a:t>
            </a:r>
            <a:endParaRPr lang="en-US" sz="1000" b="1" dirty="0">
              <a:solidFill>
                <a:srgbClr val="4A5E52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821424" y="1051560"/>
            <a:ext cx="2057400" cy="1143000"/>
          </a:xfrm>
          <a:prstGeom prst="rect">
            <a:avLst/>
          </a:prstGeom>
          <a:solidFill>
            <a:srgbClr val="E8F5EE"/>
          </a:solidFill>
          <a:ln w="12700">
            <a:solidFill>
              <a:srgbClr val="D4E5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21424" y="1051560"/>
            <a:ext cx="54864" cy="1143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58584" y="1115568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5A623"/>
                </a:solidFill>
                <a:latin typeface="Georgia" pitchFamily="34" charset="0"/>
                <a:ea typeface="Georgia" pitchFamily="34" charset="0"/>
                <a:cs typeface="Georgia" pitchFamily="34" charset="0"/>
              </a:rPr>
              <a:t>489%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958584" y="1627632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5E5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Sales Growth (Feb→Nov)</a:t>
            </a:r>
            <a:endParaRPr lang="en-US" sz="1000" b="1" dirty="0">
              <a:solidFill>
                <a:srgbClr val="4A5E52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82880" y="2377440"/>
            <a:ext cx="4160520" cy="2377440"/>
          </a:xfrm>
          <a:prstGeom prst="rect">
            <a:avLst/>
          </a:prstGeom>
          <a:solidFill>
            <a:srgbClr val="F7FAF8"/>
          </a:solidFill>
          <a:ln w="12700">
            <a:solidFill>
              <a:srgbClr val="D4E5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468880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5C38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Key Findings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0040" y="2834640"/>
            <a:ext cx="384048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2B2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Revenue Performance:</a:t>
            </a:r>
            <a:r>
              <a:rPr lang="en-US" sz="1100" b="1" dirty="0">
                <a:solidFill>
                  <a:srgbClr val="4A5E5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Strong at $2.30M with notable growth from $59.8K (Feb) to $352.5K (Nov), +489% growth.</a:t>
            </a:r>
            <a:endParaRPr lang="en-US" sz="1100" b="1" dirty="0"/>
          </a:p>
        </p:txBody>
      </p:sp>
      <p:sp>
        <p:nvSpPr>
          <p:cNvPr id="23" name="Text 21"/>
          <p:cNvSpPr/>
          <p:nvPr/>
        </p:nvSpPr>
        <p:spPr>
          <a:xfrm>
            <a:off x="320040" y="3429000"/>
            <a:ext cx="384048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2B2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Profitability Constraint:</a:t>
            </a:r>
            <a:r>
              <a:rPr lang="en-US" sz="1100" b="1" dirty="0">
                <a:solidFill>
                  <a:srgbClr val="4A5E5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~12.5% margin held back by product losses and inconsistent discounting practices.</a:t>
            </a:r>
            <a:endParaRPr lang="en-US" sz="1100" b="1" dirty="0"/>
          </a:p>
        </p:txBody>
      </p:sp>
      <p:sp>
        <p:nvSpPr>
          <p:cNvPr id="24" name="Text 22"/>
          <p:cNvSpPr/>
          <p:nvPr/>
        </p:nvSpPr>
        <p:spPr>
          <a:xfrm>
            <a:off x="320040" y="4023360"/>
            <a:ext cx="384048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2B2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Category Concentration:</a:t>
            </a:r>
            <a:r>
              <a:rPr lang="en-US" sz="1100" b="1" dirty="0">
                <a:solidFill>
                  <a:srgbClr val="4A5E5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Technology drives 36% of revenue ($836.2K). High margin but concentrated risk.</a:t>
            </a:r>
            <a:endParaRPr lang="en-US" sz="1100" b="1" dirty="0"/>
          </a:p>
        </p:txBody>
      </p:sp>
      <p:sp>
        <p:nvSpPr>
          <p:cNvPr id="25" name="Shape 23"/>
          <p:cNvSpPr/>
          <p:nvPr/>
        </p:nvSpPr>
        <p:spPr>
          <a:xfrm>
            <a:off x="4663440" y="2377440"/>
            <a:ext cx="4297680" cy="2377440"/>
          </a:xfrm>
          <a:prstGeom prst="rect">
            <a:avLst/>
          </a:prstGeom>
          <a:solidFill>
            <a:srgbClr val="F7FAF8"/>
          </a:solidFill>
          <a:ln w="12700">
            <a:solidFill>
              <a:srgbClr val="D4E5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2468880"/>
            <a:ext cx="3931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5C38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Constraints &amp; Risks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00600" y="2834640"/>
            <a:ext cx="39319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2B2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Segment Leader:</a:t>
            </a:r>
            <a:r>
              <a:rPr lang="en-US" sz="1100" b="1" dirty="0">
                <a:solidFill>
                  <a:srgbClr val="4A5E5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Consumer segment leads profit at $134.1K — outperforming Corporate by 46% and Home Office by 122%.</a:t>
            </a:r>
            <a:endParaRPr lang="en-US" sz="1100" b="1" dirty="0"/>
          </a:p>
        </p:txBody>
      </p:sp>
      <p:sp>
        <p:nvSpPr>
          <p:cNvPr id="28" name="Text 26"/>
          <p:cNvSpPr/>
          <p:nvPr/>
        </p:nvSpPr>
        <p:spPr>
          <a:xfrm>
            <a:off x="4800600" y="3429000"/>
            <a:ext cx="39319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2B2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Product Losses:</a:t>
            </a:r>
            <a:r>
              <a:rPr lang="en-US" sz="1100" b="1" dirty="0">
                <a:solidFill>
                  <a:srgbClr val="4A5E5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Underperforming SKUs (printers, conference tables) generating $17K+ in losses annually.</a:t>
            </a:r>
            <a:endParaRPr lang="en-US" sz="1100" b="1" dirty="0"/>
          </a:p>
        </p:txBody>
      </p:sp>
      <p:sp>
        <p:nvSpPr>
          <p:cNvPr id="29" name="Text 27"/>
          <p:cNvSpPr/>
          <p:nvPr/>
        </p:nvSpPr>
        <p:spPr>
          <a:xfrm>
            <a:off x="4800600" y="4023360"/>
            <a:ext cx="39319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2B2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Pricing Discipline:</a:t>
            </a:r>
            <a:r>
              <a:rPr lang="en-US" sz="1100" b="1" dirty="0">
                <a:solidFill>
                  <a:srgbClr val="4A5E5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Binder discounts ($567) vs. $100–137 across other categories signal weak pricing controls.</a:t>
            </a:r>
            <a:endParaRPr lang="en-US" sz="11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0"/>
                <a:cs typeface="Georgia" pitchFamily="34" charset="0"/>
              </a:rPr>
              <a:t>REVENUE PERFORMANCE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987552"/>
          <a:ext cx="55778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080760" y="1024128"/>
            <a:ext cx="2834640" cy="694944"/>
          </a:xfrm>
          <a:prstGeom prst="rect">
            <a:avLst/>
          </a:prstGeom>
          <a:solidFill>
            <a:srgbClr val="F7FAF8"/>
          </a:solidFill>
          <a:ln w="12700">
            <a:solidFill>
              <a:srgbClr val="D4E5D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080760" y="1024128"/>
            <a:ext cx="45720" cy="694944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36208" y="1078992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05252"/>
                </a:solidFill>
                <a:latin typeface="Georgia" pitchFamily="34" charset="0"/>
                <a:ea typeface="Georgia" pitchFamily="34" charset="0"/>
                <a:cs typeface="Georgia" pitchFamily="34" charset="0"/>
              </a:rPr>
              <a:t>$59.8K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236208" y="1408176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E5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Feb — lowest month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080760" y="1847088"/>
            <a:ext cx="2834640" cy="694944"/>
          </a:xfrm>
          <a:prstGeom prst="rect">
            <a:avLst/>
          </a:prstGeom>
          <a:solidFill>
            <a:srgbClr val="F7FAF8"/>
          </a:solidFill>
          <a:ln w="12700">
            <a:solidFill>
              <a:srgbClr val="D4E5D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080760" y="1847088"/>
            <a:ext cx="45720" cy="694944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36208" y="1901952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5C38"/>
                </a:solidFill>
                <a:latin typeface="Georgia" pitchFamily="34" charset="0"/>
                <a:ea typeface="Georgia" pitchFamily="34" charset="0"/>
                <a:cs typeface="Georgia" pitchFamily="34" charset="0"/>
              </a:rPr>
              <a:t>$352.5K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236208" y="2231136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E5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Nov — peak month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080760" y="2670048"/>
            <a:ext cx="2834640" cy="694944"/>
          </a:xfrm>
          <a:prstGeom prst="rect">
            <a:avLst/>
          </a:prstGeom>
          <a:solidFill>
            <a:srgbClr val="F7FAF8"/>
          </a:solidFill>
          <a:ln w="12700">
            <a:solidFill>
              <a:srgbClr val="D4E5D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080760" y="2670048"/>
            <a:ext cx="45720" cy="69494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36208" y="2724912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A623"/>
                </a:solidFill>
                <a:latin typeface="Georgia" pitchFamily="34" charset="0"/>
                <a:ea typeface="Georgia" pitchFamily="34" charset="0"/>
                <a:cs typeface="Georgia" pitchFamily="34" charset="0"/>
              </a:rPr>
              <a:t>~42%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236208" y="3054096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E5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Q4 share of annual revenue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080760" y="3493008"/>
            <a:ext cx="2834640" cy="694944"/>
          </a:xfrm>
          <a:prstGeom prst="rect">
            <a:avLst/>
          </a:prstGeom>
          <a:solidFill>
            <a:srgbClr val="F7FAF8"/>
          </a:solidFill>
          <a:ln w="12700">
            <a:solidFill>
              <a:srgbClr val="D4E5D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080760" y="3493008"/>
            <a:ext cx="45720" cy="694944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36208" y="3547872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7D52"/>
                </a:solidFill>
                <a:latin typeface="Georgia" pitchFamily="34" charset="0"/>
                <a:ea typeface="Georgia" pitchFamily="34" charset="0"/>
                <a:cs typeface="Georgia" pitchFamily="34" charset="0"/>
              </a:rPr>
              <a:t>489%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6236208" y="3877056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E5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Growth: Feb → Nov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274320" y="4407408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i="1" dirty="0">
                <a:solidFill>
                  <a:srgbClr val="7A9485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Sales growth is heavily concentrated in Q4 (Oct–Dec), creating cash flow gaps and forecasting risk in Q1–Q3.</a:t>
            </a:r>
            <a:endParaRPr lang="en-US" sz="1400" b="1" i="1" dirty="0">
              <a:solidFill>
                <a:srgbClr val="7A9485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0"/>
                <a:cs typeface="Georgia" pitchFamily="34" charset="0"/>
              </a:rPr>
              <a:t>PROFITABILITY &amp; DISCOUNTING ANALYSIS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024128"/>
          <a:ext cx="402336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1051560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C38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Discounting Breakdown by Category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0" y="1389888"/>
            <a:ext cx="4297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E5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Inconsistent discounting is compressing margins without clear returns.</a:t>
            </a:r>
            <a:endParaRPr lang="en-US" sz="10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4572000" y="1719072"/>
          <a:ext cx="429768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361688"/>
            <a:ext cx="4114800" cy="411480"/>
          </a:xfrm>
          <a:prstGeom prst="rect">
            <a:avLst/>
          </a:prstGeom>
          <a:solidFill>
            <a:srgbClr val="E8F5EE"/>
          </a:solidFill>
          <a:ln w="12700">
            <a:solidFill>
              <a:srgbClr val="D4E5D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11480" y="4398264"/>
            <a:ext cx="3840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5C38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Consumer leads profit:  </a:t>
            </a:r>
            <a:r>
              <a:rPr lang="en-US" sz="1000" b="1" dirty="0">
                <a:solidFill>
                  <a:srgbClr val="4A5E5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$134.1K   </a:t>
            </a:r>
            <a:endParaRPr lang="en-US" sz="1000" b="1" dirty="0"/>
          </a:p>
        </p:txBody>
      </p:sp>
      <p:sp>
        <p:nvSpPr>
          <p:cNvPr id="10" name="Shape 6"/>
          <p:cNvSpPr/>
          <p:nvPr/>
        </p:nvSpPr>
        <p:spPr>
          <a:xfrm>
            <a:off x="4709160" y="4361688"/>
            <a:ext cx="4114800" cy="411480"/>
          </a:xfrm>
          <a:prstGeom prst="rect">
            <a:avLst/>
          </a:prstGeom>
          <a:solidFill>
            <a:srgbClr val="FFF0F0"/>
          </a:solidFill>
          <a:ln w="12700">
            <a:solidFill>
              <a:srgbClr val="F5CCC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846320" y="4398264"/>
            <a:ext cx="3840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525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Binder discount outlier:  </a:t>
            </a:r>
            <a:r>
              <a:rPr lang="en-US" sz="1000" dirty="0">
                <a:solidFill>
                  <a:srgbClr val="4A5E5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$567   vs $100–137 avg (others)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0"/>
                <a:cs typeface="Georgia" pitchFamily="34" charset="0"/>
              </a:rPr>
              <a:t>CATEGORY &amp; PRODUCT ANALYSIS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182880" y="987552"/>
          <a:ext cx="393192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343400" y="987552"/>
            <a:ext cx="4572000" cy="960120"/>
          </a:xfrm>
          <a:prstGeom prst="rect">
            <a:avLst/>
          </a:prstGeom>
          <a:solidFill>
            <a:srgbClr val="E8F5EE"/>
          </a:solidFill>
          <a:ln w="12700">
            <a:solidFill>
              <a:srgbClr val="D4E5DC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343400" y="987552"/>
            <a:ext cx="54864" cy="96012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498848" y="1051560"/>
            <a:ext cx="4297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C38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Technology — $836.2K (36%)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498848" y="1335024"/>
            <a:ext cx="429768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5E5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Primary growth driver with high margins. Includes phones, accessories, copiers. Risk: concentration dependency if performance weakens.</a:t>
            </a:r>
            <a:endParaRPr lang="en-US" sz="950" b="1" dirty="0">
              <a:solidFill>
                <a:srgbClr val="4A5E52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343400" y="2066544"/>
            <a:ext cx="4572000" cy="960120"/>
          </a:xfrm>
          <a:prstGeom prst="rect">
            <a:avLst/>
          </a:prstGeom>
          <a:solidFill>
            <a:srgbClr val="F7FAF8"/>
          </a:solidFill>
          <a:ln w="12700">
            <a:solidFill>
              <a:srgbClr val="D4E5DC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43400" y="2066544"/>
            <a:ext cx="54864" cy="960120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498848" y="2130552"/>
            <a:ext cx="4297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5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Office Supplies — $770.3K (33%)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498848" y="2414016"/>
            <a:ext cx="429768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5E5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Includes binders, papers, and other staples. Margin compressed by heavy discounting — Binders alone carry $567 in discounts.</a:t>
            </a:r>
            <a:endParaRPr lang="en-US" sz="950" b="1" dirty="0">
              <a:solidFill>
                <a:srgbClr val="4A5E52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343400" y="3145536"/>
            <a:ext cx="4572000" cy="960120"/>
          </a:xfrm>
          <a:prstGeom prst="rect">
            <a:avLst/>
          </a:prstGeom>
          <a:solidFill>
            <a:srgbClr val="F7FAF8"/>
          </a:solidFill>
          <a:ln w="12700">
            <a:solidFill>
              <a:srgbClr val="D4E5DC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43400" y="3145536"/>
            <a:ext cx="54864" cy="960120"/>
          </a:xfrm>
          <a:prstGeom prst="rect">
            <a:avLst/>
          </a:prstGeom>
          <a:solidFill>
            <a:srgbClr val="4A5E52"/>
          </a:solidFill>
          <a:ln w="12700">
            <a:solidFill>
              <a:srgbClr val="4A5E5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498848" y="3209544"/>
            <a:ext cx="4297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5E5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Furniture — $693.5K (30%)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498848" y="3493008"/>
            <a:ext cx="429768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5E5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Chairs and furnishings contribute steady volume. Conference tables are loss-making. Pricing discipline needed across the category.</a:t>
            </a:r>
            <a:endParaRPr lang="en-US" sz="950" b="1" dirty="0">
              <a:solidFill>
                <a:srgbClr val="4A5E52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182880" y="4233672"/>
            <a:ext cx="8732520" cy="512064"/>
          </a:xfrm>
          <a:prstGeom prst="rect">
            <a:avLst/>
          </a:prstGeom>
          <a:solidFill>
            <a:srgbClr val="FFF2F2"/>
          </a:solidFill>
          <a:ln w="12700">
            <a:solidFill>
              <a:srgbClr val="F5CCC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82880" y="4233672"/>
            <a:ext cx="54864" cy="512064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7472" y="4270248"/>
            <a:ext cx="84124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525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⚠  Loss-Making Products: </a:t>
            </a:r>
            <a:r>
              <a:rPr lang="en-US" sz="1000" b="1" dirty="0">
                <a:solidFill>
                  <a:srgbClr val="4A5E5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Printers &amp; Conference Tables generate $17,000+ in combined annual losses — directly reducing the 12.5% profit margin and requiring immediate pricing or discontinuation action.</a:t>
            </a:r>
            <a:endParaRPr lang="en-US" sz="10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5C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2E7D52">
              <a:alpha val="30000"/>
            </a:srgbClr>
          </a:solidFill>
          <a:ln w="12700">
            <a:solidFill>
              <a:srgbClr val="2E7D52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2E7D52">
              <a:alpha val="25000"/>
            </a:srgbClr>
          </a:solidFill>
          <a:ln w="12700">
            <a:solidFill>
              <a:srgbClr val="2E7D52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0"/>
                <a:cs typeface="Georgia" pitchFamily="34" charset="0"/>
              </a:rPr>
              <a:t>STRATEGIC RECOMMENDATIONS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5 Priority Actions to Unlock Profitability &amp; Sustainable Growth</a:t>
            </a:r>
            <a:endParaRPr lang="en-US" sz="1400" b="1" i="1" dirty="0">
              <a:solidFill>
                <a:schemeClr val="bg1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1627632"/>
            <a:ext cx="2606040" cy="1261872"/>
          </a:xfrm>
          <a:prstGeom prst="rect">
            <a:avLst/>
          </a:prstGeom>
          <a:solidFill>
            <a:srgbClr val="2E7D52"/>
          </a:solidFill>
          <a:ln w="12700">
            <a:solidFill>
              <a:srgbClr val="56C596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84048" y="1719072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6C596"/>
                </a:solidFill>
                <a:latin typeface="Georgia" pitchFamily="34" charset="0"/>
                <a:ea typeface="Georgia" pitchFamily="34" charset="0"/>
                <a:cs typeface="Georgia" pitchFamily="34" charset="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84048" y="210312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Eliminate Product Losses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2542032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+$17K profit recovery</a:t>
            </a:r>
            <a:endParaRPr lang="en-US" sz="1000" i="1" dirty="0">
              <a:solidFill>
                <a:schemeClr val="bg1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108960" y="1627632"/>
            <a:ext cx="2606040" cy="1261872"/>
          </a:xfrm>
          <a:prstGeom prst="rect">
            <a:avLst/>
          </a:prstGeom>
          <a:solidFill>
            <a:srgbClr val="2E7D52"/>
          </a:solidFill>
          <a:ln w="12700">
            <a:solidFill>
              <a:srgbClr val="56C596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18688" y="1719072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6C596"/>
                </a:solidFill>
                <a:latin typeface="Georgia" pitchFamily="34" charset="0"/>
                <a:ea typeface="Georgia" pitchFamily="34" charset="0"/>
                <a:cs typeface="Georgia" pitchFamily="34" charset="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18688" y="210312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Structured Discount Governance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18688" y="2542032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+3–5% margin improvement</a:t>
            </a:r>
            <a:endParaRPr lang="en-US" sz="950" i="1" dirty="0">
              <a:solidFill>
                <a:schemeClr val="bg1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943600" y="1627632"/>
            <a:ext cx="2606040" cy="1261872"/>
          </a:xfrm>
          <a:prstGeom prst="rect">
            <a:avLst/>
          </a:prstGeom>
          <a:solidFill>
            <a:srgbClr val="2E7D52"/>
          </a:solidFill>
          <a:ln w="12700">
            <a:solidFill>
              <a:srgbClr val="56C596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53328" y="1719072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6C596"/>
                </a:solidFill>
                <a:latin typeface="Georgia" pitchFamily="34" charset="0"/>
                <a:ea typeface="Georgia" pitchFamily="34" charset="0"/>
                <a:cs typeface="Georgia" pitchFamily="34" charset="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053328" y="210312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Expand Consumer Segment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53328" y="2542032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+15–20% segment growth</a:t>
            </a:r>
            <a:endParaRPr lang="en-US" sz="1000" b="1" i="1" dirty="0">
              <a:solidFill>
                <a:schemeClr val="bg1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691640" y="3200400"/>
            <a:ext cx="2606040" cy="1261872"/>
          </a:xfrm>
          <a:prstGeom prst="rect">
            <a:avLst/>
          </a:prstGeom>
          <a:solidFill>
            <a:srgbClr val="2E7D52"/>
          </a:solidFill>
          <a:ln w="12700">
            <a:solidFill>
              <a:srgbClr val="56C596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801368" y="3291840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6C596"/>
                </a:solidFill>
                <a:latin typeface="Georgia" pitchFamily="34" charset="0"/>
                <a:ea typeface="Georgia" pitchFamily="34" charset="0"/>
                <a:cs typeface="Georgia" pitchFamily="34" charset="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801368" y="3675888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Reduce Year-End Dependency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801368" y="4114800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20–30% volatility reduction</a:t>
            </a:r>
            <a:endParaRPr lang="en-US" sz="1000" b="1" i="1" dirty="0">
              <a:solidFill>
                <a:schemeClr val="bg1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526280" y="3200400"/>
            <a:ext cx="2606040" cy="1261872"/>
          </a:xfrm>
          <a:prstGeom prst="rect">
            <a:avLst/>
          </a:prstGeom>
          <a:solidFill>
            <a:srgbClr val="2E7D52"/>
          </a:solidFill>
          <a:ln w="12700">
            <a:solidFill>
              <a:srgbClr val="56C596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636008" y="3291840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6C596"/>
                </a:solidFill>
                <a:latin typeface="Georgia" pitchFamily="34" charset="0"/>
                <a:ea typeface="Georgia" pitchFamily="34" charset="0"/>
                <a:cs typeface="Georgia" pitchFamily="34" charset="0"/>
              </a:rPr>
              <a:t>05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636008" y="3675888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Strengthen Technology Category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36008" y="4114800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+10–15% category growth</a:t>
            </a:r>
            <a:endParaRPr lang="en-US" sz="950" b="1" i="1" dirty="0">
              <a:solidFill>
                <a:schemeClr val="bg1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0"/>
                <a:cs typeface="Georgia" pitchFamily="34" charset="0"/>
              </a:rPr>
              <a:t>RECOMMENDATIONS 01 &amp; 02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1024128"/>
            <a:ext cx="4279392" cy="3840480"/>
          </a:xfrm>
          <a:prstGeom prst="rect">
            <a:avLst/>
          </a:prstGeom>
          <a:solidFill>
            <a:srgbClr val="F7FAF8"/>
          </a:solidFill>
          <a:ln w="12700">
            <a:solidFill>
              <a:srgbClr val="D4E5DC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1115568"/>
            <a:ext cx="475488" cy="475488"/>
          </a:xfrm>
          <a:prstGeom prst="ellipse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115568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0"/>
                <a:cs typeface="Georgia" pitchFamily="34" charset="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152144"/>
            <a:ext cx="33832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C38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Eliminate Product Losses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673352"/>
            <a:ext cx="3931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A5C38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OBJECTIVE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920240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5E5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Recover $17,000+ in annual profit, improving margin from 12.5% → 13.2% (+0.7pp)</a:t>
            </a:r>
            <a:endParaRPr lang="en-US" sz="1000" b="1" dirty="0">
              <a:solidFill>
                <a:srgbClr val="4A5E52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65760" y="2468880"/>
            <a:ext cx="3931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A5C38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WHY IT MATTERS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2697480"/>
            <a:ext cx="3931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4A5E5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Loss-making SKUs (printers, conference tables) directly reduce total profit.</a:t>
            </a:r>
            <a:endParaRPr lang="en-US" sz="1000" b="1" i="1" dirty="0">
              <a:solidFill>
                <a:srgbClr val="4A5E52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65760" y="3182112"/>
            <a:ext cx="3931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A5C38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ACTIONS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3438144"/>
            <a:ext cx="393192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b="1" dirty="0">
                <a:solidFill>
                  <a:srgbClr val="4A5E5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Review product margins within 30 days</a:t>
            </a:r>
            <a:endParaRPr lang="en-US" sz="950" b="1" dirty="0"/>
          </a:p>
          <a:p>
            <a:pPr marL="342900" indent="-342900">
              <a:buSzPct val="100000"/>
              <a:buChar char="•"/>
            </a:pPr>
            <a:r>
              <a:rPr lang="en-US" sz="950" b="1" dirty="0">
                <a:solidFill>
                  <a:srgbClr val="4A5E5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Adjust pricing by 5–10% where feasible</a:t>
            </a:r>
            <a:endParaRPr lang="en-US" sz="950" b="1" dirty="0"/>
          </a:p>
          <a:p>
            <a:pPr marL="342900" indent="-342900">
              <a:buSzPct val="100000"/>
              <a:buChar char="•"/>
            </a:pPr>
            <a:r>
              <a:rPr lang="en-US" sz="950" b="1" dirty="0">
                <a:solidFill>
                  <a:srgbClr val="4A5E5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Reduce inventory by 20–30%</a:t>
            </a:r>
            <a:endParaRPr lang="en-US" sz="950" b="1" dirty="0"/>
          </a:p>
          <a:p>
            <a:pPr marL="342900" indent="-342900">
              <a:buSzPct val="100000"/>
              <a:buChar char="•"/>
            </a:pPr>
            <a:r>
              <a:rPr lang="en-US" sz="950" b="1" dirty="0">
                <a:solidFill>
                  <a:srgbClr val="4A5E5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Discontinue products after 30–60 days if losses persist</a:t>
            </a:r>
            <a:endParaRPr lang="en-US" sz="950" b="1" dirty="0"/>
          </a:p>
        </p:txBody>
      </p:sp>
      <p:sp>
        <p:nvSpPr>
          <p:cNvPr id="14" name="Shape 12"/>
          <p:cNvSpPr/>
          <p:nvPr/>
        </p:nvSpPr>
        <p:spPr>
          <a:xfrm>
            <a:off x="347472" y="4462272"/>
            <a:ext cx="3931920" cy="292608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4480560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TARGET: ≥ 50% reduction in product losses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024128"/>
            <a:ext cx="4279392" cy="3840480"/>
          </a:xfrm>
          <a:prstGeom prst="rect">
            <a:avLst/>
          </a:prstGeom>
          <a:solidFill>
            <a:srgbClr val="F7FAF8"/>
          </a:solidFill>
          <a:ln w="12700">
            <a:solidFill>
              <a:srgbClr val="D4E5DC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28032" y="1115568"/>
            <a:ext cx="475488" cy="475488"/>
          </a:xfrm>
          <a:prstGeom prst="ellipse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28032" y="1115568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0"/>
                <a:cs typeface="Georgia" pitchFamily="34" charset="0"/>
              </a:rPr>
              <a:t>02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40680" y="1152144"/>
            <a:ext cx="33832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C38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Discount Control &amp; Governance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1673352"/>
            <a:ext cx="3931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E7D5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OBJECTIVE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46320" y="1920240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5E5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Standardize discount allocation, enforce caps, and tie promotions to clear business outcomes</a:t>
            </a:r>
            <a:endParaRPr lang="en-US" sz="1000" b="1" dirty="0">
              <a:solidFill>
                <a:srgbClr val="4A5E52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846320" y="2468880"/>
            <a:ext cx="3931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E7D5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WHY IT MATTERS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46320" y="2697480"/>
            <a:ext cx="3931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4A5E5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Binders receive $567 in discounts vs. $100–137 across other categories — compressing margins.</a:t>
            </a:r>
            <a:endParaRPr lang="en-US" sz="1000" b="1" i="1" dirty="0">
              <a:solidFill>
                <a:srgbClr val="4A5E52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846320" y="3182112"/>
            <a:ext cx="3931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E7D5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ACTIONS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46320" y="3438144"/>
            <a:ext cx="393192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b="1" dirty="0">
                <a:solidFill>
                  <a:srgbClr val="4A5E5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Set discount limits at 10–15% per category</a:t>
            </a:r>
            <a:endParaRPr lang="en-US" sz="950" b="1" dirty="0"/>
          </a:p>
          <a:p>
            <a:pPr marL="342900" indent="-342900">
              <a:buSzPct val="100000"/>
              <a:buChar char="•"/>
            </a:pPr>
            <a:r>
              <a:rPr lang="en-US" sz="950" b="1" dirty="0">
                <a:solidFill>
                  <a:srgbClr val="4A5E5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Tie discounts to inventory reduction targets (~20%)</a:t>
            </a:r>
            <a:endParaRPr lang="en-US" sz="950" b="1" dirty="0"/>
          </a:p>
          <a:p>
            <a:pPr marL="342900" indent="-342900">
              <a:buSzPct val="100000"/>
              <a:buChar char="•"/>
            </a:pPr>
            <a:r>
              <a:rPr lang="en-US" sz="950" b="1" dirty="0">
                <a:solidFill>
                  <a:srgbClr val="4A5E5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Track performance of each promotion</a:t>
            </a:r>
            <a:endParaRPr lang="en-US" sz="950" b="1" dirty="0"/>
          </a:p>
          <a:p>
            <a:pPr marL="342900" indent="-342900">
              <a:buSzPct val="100000"/>
              <a:buChar char="•"/>
            </a:pPr>
            <a:r>
              <a:rPr lang="en-US" sz="950" b="1" dirty="0">
                <a:solidFill>
                  <a:srgbClr val="4A5E5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Monthly discount audit to flag outliers</a:t>
            </a:r>
            <a:endParaRPr lang="en-US" sz="950" b="1" dirty="0"/>
          </a:p>
        </p:txBody>
      </p:sp>
      <p:sp>
        <p:nvSpPr>
          <p:cNvPr id="26" name="Shape 24"/>
          <p:cNvSpPr/>
          <p:nvPr/>
        </p:nvSpPr>
        <p:spPr>
          <a:xfrm>
            <a:off x="4828032" y="4462272"/>
            <a:ext cx="3931920" cy="292608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4480560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TARGET: +3–5% overall margin improvement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0"/>
                <a:cs typeface="Georgia" pitchFamily="34" charset="0"/>
              </a:rPr>
              <a:t>RECOMMENDATIONS 03 &amp; 04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1024128"/>
            <a:ext cx="4279392" cy="3840480"/>
          </a:xfrm>
          <a:prstGeom prst="rect">
            <a:avLst/>
          </a:prstGeom>
          <a:solidFill>
            <a:srgbClr val="F7FAF8"/>
          </a:solidFill>
          <a:ln w="12700">
            <a:solidFill>
              <a:srgbClr val="D4E5DC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1115568"/>
            <a:ext cx="475488" cy="475488"/>
          </a:xfrm>
          <a:prstGeom prst="ellipse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115568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0"/>
                <a:cs typeface="Georgia" pitchFamily="34" charset="0"/>
              </a:rPr>
              <a:t>03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152144"/>
            <a:ext cx="33832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C38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Expand Consumer Segment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673352"/>
            <a:ext cx="3931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A5C38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OBJECTIVE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920240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5E5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Grow Consumer revenue &amp; profit by 15–20% over 12 months via higher market penetration and basket size</a:t>
            </a:r>
            <a:endParaRPr lang="en-US" sz="1000" b="1" dirty="0">
              <a:solidFill>
                <a:srgbClr val="4A5E52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65760" y="2468880"/>
            <a:ext cx="3931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A5C38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WHY IT MATTERS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2697480"/>
            <a:ext cx="3931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4A5E5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Consumer segment delivers the highest profit at $134.1K — 46% above Corporate.</a:t>
            </a:r>
            <a:endParaRPr lang="en-US" sz="1000" b="1" i="1" dirty="0">
              <a:solidFill>
                <a:srgbClr val="4A5E52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65760" y="3182112"/>
            <a:ext cx="3931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A5C38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ACTIONS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3438144"/>
            <a:ext cx="393192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b="1" dirty="0">
                <a:solidFill>
                  <a:srgbClr val="4A5E5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Increase marketing focus on Consumer by 20–30%</a:t>
            </a:r>
            <a:endParaRPr lang="en-US" sz="950" b="1" dirty="0"/>
          </a:p>
          <a:p>
            <a:pPr marL="342900" indent="-342900">
              <a:buSzPct val="100000"/>
              <a:buChar char="•"/>
            </a:pPr>
            <a:r>
              <a:rPr lang="en-US" sz="950" b="1" dirty="0">
                <a:solidFill>
                  <a:srgbClr val="4A5E5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Introduce loyalty programs to drive repeat purchases</a:t>
            </a:r>
            <a:endParaRPr lang="en-US" sz="950" b="1" dirty="0"/>
          </a:p>
          <a:p>
            <a:pPr marL="342900" indent="-342900">
              <a:buSzPct val="100000"/>
              <a:buChar char="•"/>
            </a:pPr>
            <a:r>
              <a:rPr lang="en-US" sz="950" b="1" dirty="0">
                <a:solidFill>
                  <a:srgbClr val="4A5E5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Bundle products to increase average basket size</a:t>
            </a:r>
            <a:endParaRPr lang="en-US" sz="950" b="1" dirty="0"/>
          </a:p>
          <a:p>
            <a:pPr marL="342900" indent="-342900">
              <a:buSzPct val="100000"/>
              <a:buChar char="•"/>
            </a:pPr>
            <a:r>
              <a:rPr lang="en-US" sz="950" b="1" dirty="0">
                <a:solidFill>
                  <a:srgbClr val="4A5E5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Track average order value monthly</a:t>
            </a:r>
            <a:endParaRPr lang="en-US" sz="950" b="1" dirty="0"/>
          </a:p>
        </p:txBody>
      </p:sp>
      <p:sp>
        <p:nvSpPr>
          <p:cNvPr id="14" name="Shape 12"/>
          <p:cNvSpPr/>
          <p:nvPr/>
        </p:nvSpPr>
        <p:spPr>
          <a:xfrm>
            <a:off x="347472" y="4462272"/>
            <a:ext cx="3931920" cy="292608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4480560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TARGET: +15–20% segment profit | +10% avg order value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024128"/>
            <a:ext cx="4279392" cy="3840480"/>
          </a:xfrm>
          <a:prstGeom prst="rect">
            <a:avLst/>
          </a:prstGeom>
          <a:solidFill>
            <a:srgbClr val="F7FAF8"/>
          </a:solidFill>
          <a:ln w="12700">
            <a:solidFill>
              <a:srgbClr val="D4E5DC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28032" y="1115568"/>
            <a:ext cx="475488" cy="475488"/>
          </a:xfrm>
          <a:prstGeom prst="ellipse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28032" y="1115568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0"/>
                <a:cs typeface="Georgia" pitchFamily="34" charset="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40680" y="1152144"/>
            <a:ext cx="33832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C38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Reduce Year-End Dependency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1673352"/>
            <a:ext cx="3931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E7D5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OBJECTIVE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46320" y="1920240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5E5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Boost Q1–Q3 off-season sales by 20–30%, reducing Q4 share from 42% → ~35% of annual revenue</a:t>
            </a:r>
            <a:endParaRPr lang="en-US" sz="1000" b="1" dirty="0">
              <a:solidFill>
                <a:srgbClr val="4A5E52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846320" y="2468880"/>
            <a:ext cx="3931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E7D5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WHY IT MATTERS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46320" y="2697480"/>
            <a:ext cx="3931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4A5E5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Sales are dangerously concentrated in Q4, creating cash flow gaps and forecasting risk.</a:t>
            </a:r>
            <a:endParaRPr lang="en-US" sz="1000" b="1" i="1" dirty="0">
              <a:solidFill>
                <a:srgbClr val="4A5E52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846320" y="3182112"/>
            <a:ext cx="3931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E7D5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ACTIONS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46320" y="3438144"/>
            <a:ext cx="393192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b="1" dirty="0">
                <a:solidFill>
                  <a:srgbClr val="4A5E5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Run targeted campaigns in low-sales months</a:t>
            </a:r>
            <a:endParaRPr lang="en-US" sz="950" b="1" dirty="0"/>
          </a:p>
          <a:p>
            <a:pPr marL="342900" indent="-342900">
              <a:buSzPct val="100000"/>
              <a:buChar char="•"/>
            </a:pPr>
            <a:r>
              <a:rPr lang="en-US" sz="950" b="1" dirty="0">
                <a:solidFill>
                  <a:srgbClr val="4A5E5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Introduce mid-year promotions (Q2 &amp; Q3)</a:t>
            </a:r>
            <a:endParaRPr lang="en-US" sz="950" b="1" dirty="0"/>
          </a:p>
          <a:p>
            <a:pPr marL="342900" indent="-342900">
              <a:buSzPct val="100000"/>
              <a:buChar char="•"/>
            </a:pPr>
            <a:r>
              <a:rPr lang="en-US" sz="950" b="1" dirty="0">
                <a:solidFill>
                  <a:srgbClr val="4A5E5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Use historical data for better demand planning</a:t>
            </a:r>
            <a:endParaRPr lang="en-US" sz="950" b="1" dirty="0"/>
          </a:p>
          <a:p>
            <a:pPr marL="342900" indent="-342900">
              <a:buSzPct val="100000"/>
              <a:buChar char="•"/>
            </a:pPr>
            <a:r>
              <a:rPr lang="en-US" sz="950" b="1" dirty="0">
                <a:solidFill>
                  <a:srgbClr val="4A5E5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Set quarterly revenue targets with incentives</a:t>
            </a:r>
            <a:endParaRPr lang="en-US" sz="950" b="1" dirty="0"/>
          </a:p>
        </p:txBody>
      </p:sp>
      <p:sp>
        <p:nvSpPr>
          <p:cNvPr id="26" name="Shape 24"/>
          <p:cNvSpPr/>
          <p:nvPr/>
        </p:nvSpPr>
        <p:spPr>
          <a:xfrm>
            <a:off x="4828032" y="4462272"/>
            <a:ext cx="3931920" cy="292608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4480560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TARGET: 20–30% reduction in monthly sales volatility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0"/>
                <a:cs typeface="Georgia" pitchFamily="34" charset="0"/>
              </a:rPr>
              <a:t>RECOMMENDATION 05 &amp; IMPLEMENTATION TIMELINE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1024128"/>
            <a:ext cx="4279392" cy="3017520"/>
          </a:xfrm>
          <a:prstGeom prst="rect">
            <a:avLst/>
          </a:prstGeom>
          <a:solidFill>
            <a:srgbClr val="F7FAF8"/>
          </a:solidFill>
          <a:ln w="12700">
            <a:solidFill>
              <a:srgbClr val="D4E5DC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1115568"/>
            <a:ext cx="475488" cy="475488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115568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0"/>
                <a:cs typeface="Georgia" pitchFamily="34" charset="0"/>
              </a:rPr>
              <a:t>05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152144"/>
            <a:ext cx="32918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C38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Strengthen Technology Category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664208"/>
            <a:ext cx="3931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CAF7D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OBJECTIVE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920240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5E5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Grow Technology revenue by 10–15% ($84–126K increase) while maintaining margin discipline.</a:t>
            </a:r>
            <a:endParaRPr lang="en-US" sz="1000" b="1" dirty="0">
              <a:solidFill>
                <a:srgbClr val="4A5E52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65760" y="2423160"/>
            <a:ext cx="3931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CAF7D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WHY IT MATTERS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265176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4A5E5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Technology contributes 36% of revenue at high margins — the primary growth engine.</a:t>
            </a:r>
            <a:endParaRPr lang="en-US" sz="1000" b="1" i="1" dirty="0">
              <a:solidFill>
                <a:srgbClr val="4A5E52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65760" y="3090672"/>
            <a:ext cx="3931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CAF7D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ACTIONS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3337560"/>
            <a:ext cx="3931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b="1" dirty="0">
                <a:solidFill>
                  <a:srgbClr val="4A5E5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Increase inventory by 15–25% for top tech SKUs</a:t>
            </a:r>
            <a:endParaRPr lang="en-US" sz="950" b="1" dirty="0"/>
          </a:p>
          <a:p>
            <a:pPr marL="342900" indent="-342900">
              <a:buSzPct val="100000"/>
              <a:buChar char="•"/>
            </a:pPr>
            <a:r>
              <a:rPr lang="en-US" sz="950" b="1" dirty="0">
                <a:solidFill>
                  <a:srgbClr val="4A5E5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Focus marketing on high-performing tech products</a:t>
            </a:r>
            <a:endParaRPr lang="en-US" sz="950" b="1" dirty="0"/>
          </a:p>
          <a:p>
            <a:pPr marL="342900" indent="-342900">
              <a:buSzPct val="100000"/>
              <a:buChar char="•"/>
            </a:pPr>
            <a:r>
              <a:rPr lang="en-US" sz="950" b="1" dirty="0">
                <a:solidFill>
                  <a:srgbClr val="4A5E5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Maintain pricing discipline to protect margins</a:t>
            </a:r>
            <a:endParaRPr lang="en-US" sz="950" b="1" dirty="0"/>
          </a:p>
        </p:txBody>
      </p:sp>
      <p:sp>
        <p:nvSpPr>
          <p:cNvPr id="14" name="Shape 12"/>
          <p:cNvSpPr/>
          <p:nvPr/>
        </p:nvSpPr>
        <p:spPr>
          <a:xfrm>
            <a:off x="347472" y="4160520"/>
            <a:ext cx="3931920" cy="292608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4178808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TARGET: +10–15% category revenue growth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105156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C38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Implementation Timeline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1508760"/>
            <a:ext cx="4206240" cy="676656"/>
          </a:xfrm>
          <a:prstGeom prst="rect">
            <a:avLst/>
          </a:prstGeom>
          <a:solidFill>
            <a:srgbClr val="F7FAF8"/>
          </a:solidFill>
          <a:ln w="12700">
            <a:solidFill>
              <a:srgbClr val="D4E5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1508760"/>
            <a:ext cx="54864" cy="676656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563624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5C38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Days 0–30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172200" y="1563624"/>
            <a:ext cx="2606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2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Quick Wins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92040" y="1856232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4A5E5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Audit product margins · Flag loss-makers</a:t>
            </a:r>
            <a:endParaRPr lang="en-US" sz="900" b="1" i="1" dirty="0">
              <a:solidFill>
                <a:srgbClr val="4A5E52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754880" y="2304288"/>
            <a:ext cx="4206240" cy="676656"/>
          </a:xfrm>
          <a:prstGeom prst="rect">
            <a:avLst/>
          </a:prstGeom>
          <a:solidFill>
            <a:srgbClr val="F7FAF8"/>
          </a:solidFill>
          <a:ln w="12700">
            <a:solidFill>
              <a:srgbClr val="D4E5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2304288"/>
            <a:ext cx="54864" cy="676656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359152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5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Days 30–60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172200" y="2359152"/>
            <a:ext cx="2606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2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Pricing &amp; Discounts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92040" y="2651760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4A5E5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Set discount caps · Reprice underperformers</a:t>
            </a:r>
            <a:endParaRPr lang="en-US" sz="900" b="1" i="1" dirty="0">
              <a:solidFill>
                <a:srgbClr val="4A5E52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754880" y="3099816"/>
            <a:ext cx="4206240" cy="676656"/>
          </a:xfrm>
          <a:prstGeom prst="rect">
            <a:avLst/>
          </a:prstGeom>
          <a:solidFill>
            <a:srgbClr val="F7FAF8"/>
          </a:solidFill>
          <a:ln w="12700">
            <a:solidFill>
              <a:srgbClr val="D4E5D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3099816"/>
            <a:ext cx="54864" cy="676656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3154680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CAF7D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Days 60–120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172200" y="3154680"/>
            <a:ext cx="2606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2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Segment &amp; Category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92040" y="3447288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4A5E5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Launch Consumer loyalty · Tech inventory increase</a:t>
            </a:r>
            <a:endParaRPr lang="en-US" sz="900" b="1" i="1" dirty="0">
              <a:solidFill>
                <a:srgbClr val="4A5E52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754880" y="3895344"/>
            <a:ext cx="4206240" cy="676656"/>
          </a:xfrm>
          <a:prstGeom prst="rect">
            <a:avLst/>
          </a:prstGeom>
          <a:solidFill>
            <a:srgbClr val="F7FAF8"/>
          </a:solidFill>
          <a:ln w="12700">
            <a:solidFill>
              <a:srgbClr val="D4E5D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3895344"/>
            <a:ext cx="54864" cy="676656"/>
          </a:xfrm>
          <a:prstGeom prst="rect">
            <a:avLst/>
          </a:prstGeom>
          <a:solidFill>
            <a:srgbClr val="56C596"/>
          </a:solidFill>
          <a:ln w="12700">
            <a:solidFill>
              <a:srgbClr val="56C59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3950208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6C59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Days 120–365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172200" y="3950208"/>
            <a:ext cx="2606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2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Sustain &amp; Scale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92040" y="4242816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4A5E5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Mid-year campaigns · Quarterly tracking</a:t>
            </a:r>
            <a:endParaRPr lang="en-US" sz="900" b="1" i="1" dirty="0">
              <a:solidFill>
                <a:srgbClr val="4A5E52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5C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2E7D52">
              <a:alpha val="25000"/>
            </a:srgbClr>
          </a:solidFill>
          <a:ln w="12700">
            <a:solidFill>
              <a:srgbClr val="2E7D52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2E7D52">
              <a:alpha val="28000"/>
            </a:srgbClr>
          </a:solidFill>
          <a:ln w="12700">
            <a:solidFill>
              <a:srgbClr val="2E7D52">
                <a:alpha val="2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500" dirty="0">
                <a:solidFill>
                  <a:srgbClr val="56C59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KEY TAKEAWAYS</a:t>
            </a:r>
            <a:endParaRPr lang="en-US" sz="1600" b="1" kern="0" spc="500" dirty="0">
              <a:solidFill>
                <a:srgbClr val="56C596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0"/>
                <a:cs typeface="Georgia" pitchFamily="34" charset="0"/>
              </a:rPr>
              <a:t>Strong Foundation.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0"/>
                <a:cs typeface="Georgia" pitchFamily="34" charset="0"/>
              </a:rPr>
              <a:t>Targeted Fixes Needed.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20040" y="2514600"/>
            <a:ext cx="2651760" cy="2148840"/>
          </a:xfrm>
          <a:prstGeom prst="rect">
            <a:avLst/>
          </a:prstGeom>
          <a:solidFill>
            <a:srgbClr val="2E7D52">
              <a:alpha val="60000"/>
            </a:srgbClr>
          </a:solidFill>
          <a:ln w="12700">
            <a:solidFill>
              <a:srgbClr val="56C5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2514600"/>
            <a:ext cx="2651760" cy="54864"/>
          </a:xfrm>
          <a:prstGeom prst="rect">
            <a:avLst/>
          </a:prstGeom>
          <a:solidFill>
            <a:srgbClr val="56C596"/>
          </a:solidFill>
          <a:ln w="12700">
            <a:solidFill>
              <a:srgbClr val="56C5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633472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Revenue is Growing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090672"/>
            <a:ext cx="2377440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489% growth from Feb to Nov demonstrates real demand. The core business model is working.</a:t>
            </a:r>
            <a:endParaRPr lang="en-US" sz="1100" b="1" dirty="0">
              <a:solidFill>
                <a:schemeClr val="bg1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154680" y="2514600"/>
            <a:ext cx="2651760" cy="2148840"/>
          </a:xfrm>
          <a:prstGeom prst="rect">
            <a:avLst/>
          </a:prstGeom>
          <a:solidFill>
            <a:srgbClr val="2E7D52">
              <a:alpha val="60000"/>
            </a:srgbClr>
          </a:solidFill>
          <a:ln w="12700">
            <a:solidFill>
              <a:srgbClr val="56C59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54680" y="2514600"/>
            <a:ext cx="2651760" cy="54864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2633472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Profitability Has Levers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3090672"/>
            <a:ext cx="2377440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E8D8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$17K+ in losses + uncontrolled discounting = solvable problems with immediate ROI.</a:t>
            </a:r>
            <a:endParaRPr lang="en-US" sz="1100" b="1" dirty="0">
              <a:solidFill>
                <a:srgbClr val="C8E8D8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989320" y="2514600"/>
            <a:ext cx="2651760" cy="2148840"/>
          </a:xfrm>
          <a:prstGeom prst="rect">
            <a:avLst/>
          </a:prstGeom>
          <a:solidFill>
            <a:srgbClr val="2E7D52">
              <a:alpha val="60000"/>
            </a:srgbClr>
          </a:solidFill>
          <a:ln w="12700">
            <a:solidFill>
              <a:srgbClr val="56C59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89320" y="2514600"/>
            <a:ext cx="2651760" cy="54864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2633472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Growth is Within Reach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26480" y="3090672"/>
            <a:ext cx="2377440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E8D8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Consumer segment, Technology category, and year-round demand offer clear expansion paths.</a:t>
            </a:r>
            <a:endParaRPr lang="en-US" sz="1100" b="1" dirty="0">
              <a:solidFill>
                <a:srgbClr val="C8E8D8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4773168"/>
            <a:ext cx="8229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Tunia Technologies  |  Data Analytics Portfolio Report  |  202</a:t>
            </a:r>
            <a:r>
              <a:rPr lang="en-AU" alt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5</a:t>
            </a:r>
            <a:endParaRPr lang="en-AU" altLang="en-US" sz="1000" dirty="0">
              <a:solidFill>
                <a:srgbClr val="FFFFFF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/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Arial</vt:lpstr>
      <vt:lpstr>SimSun</vt:lpstr>
      <vt:lpstr>Wingdings</vt:lpstr>
      <vt:lpstr>Calibri</vt:lpstr>
      <vt:lpstr>Georgia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Tunia Technologies — Data Analysis Report</dc:title>
  <dc:creator>PptxGenJS</dc:creator>
  <dc:subject>PptxGenJS Presentation</dc:subject>
  <cp:lastModifiedBy>iPhone</cp:lastModifiedBy>
  <cp:revision>1</cp:revision>
  <dcterms:created xsi:type="dcterms:W3CDTF">1900-01-01T00:00:00Z</dcterms:created>
  <dcterms:modified xsi:type="dcterms:W3CDTF">1900-01-01T00:00:00Z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597A76048B555A1C6C4AE3695A7AEB28_32</vt:lpwstr>
  </property>
  <property fmtid="{D5CDD505-2E9C-101B-9397-08002B2CF9AE}" pid="3" name="KSOProductBuildVer">
    <vt:lpwstr>3081-11.37.40</vt:lpwstr>
  </property>
</Properties>
</file>